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t>🔮 RAG Agent Technical Architecture</a:t>
            </a:r>
          </a:p>
          <a:p>
            <a:pPr>
              <a:spcAft>
                <a:spcPts val="2800"/>
              </a:spcAft>
              <a:defRPr sz="2000">
                <a:solidFill>
                  <a:srgbClr val="CBD5E1"/>
                </a:solidFill>
              </a:defRPr>
            </a:pPr>
            <a:r>
              <a:t>LangChain Integration, Structured Outputs, and FAISS Retrieval</a:t>
            </a:r>
          </a:p>
          <a:p>
            <a:pPr>
              <a:defRPr sz="1400" b="1">
                <a:solidFill>
                  <a:srgbClr val="7C3AED"/>
                </a:solidFill>
              </a:defRPr>
            </a:pPr>
            <a:r>
              <a:t>Ahmad Sheraz  |  SAP ID: 70177829  |  Section 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PROJECT ARCHITECTURE &amp;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</a:defRPr>
            </a:pPr>
            <a:r>
              <a:t>Modular Codebase &amp; Class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212529"/>
                </a:solidFill>
              </a:defRPr>
            </a:pPr>
            <a:r>
              <a:t>Retrieval Layer</a:t>
            </a:r>
          </a:p>
          <a:p>
            <a:pPr>
              <a:defRPr sz="1300">
                <a:solidFill>
                  <a:srgbClr val="6C757D"/>
                </a:solidFill>
              </a:defRPr>
            </a:pPr>
            <a:r>
              <a:t>src/retrieval/retriever.py</a:t>
            </a:r>
            <a:br/>
            <a:br/>
            <a:r>
              <a:t>Initializes get_retriever() to fetch context chunks from vector indexes.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212529"/>
                </a:solidFill>
              </a:defRPr>
            </a:pPr>
            <a:r>
              <a:t>Chain &amp; Prompt Management</a:t>
            </a:r>
          </a:p>
          <a:p>
            <a:pPr>
              <a:defRPr sz="1300">
                <a:solidFill>
                  <a:srgbClr val="6C757D"/>
                </a:solidFill>
              </a:defRPr>
            </a:pPr>
            <a:r>
              <a:t>src/chains/prompts.py &amp; schemas.py</a:t>
            </a:r>
            <a:br/>
            <a:br/>
            <a:r>
              <a:t>Defines RAG_PROMPT templates and enforces AgentResponse Pydantic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212529"/>
                </a:solidFill>
              </a:defRPr>
            </a:pPr>
            <a:r>
              <a:t>LLM Integration</a:t>
            </a:r>
          </a:p>
          <a:p>
            <a:pPr>
              <a:defRPr sz="1300">
                <a:solidFill>
                  <a:srgbClr val="6C757D"/>
                </a:solidFill>
              </a:defRPr>
            </a:pPr>
            <a:r>
              <a:t>ChatOpenAI (gpt-4o-mini)</a:t>
            </a:r>
            <a:br/>
            <a:br/>
            <a:r>
              <a:t>Utilizes with_structured_output() to bind schemas directly to model output.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PROJECT ARCHITECTURE &amp;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</a:defRPr>
            </a:pPr>
            <a:r>
              <a:t>Class Initialization &amp; Execution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7C3AED"/>
                </a:solidFill>
              </a:defRPr>
            </a:pPr>
            <a:r>
              <a:t>1. Class Instantiation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The main Support/RAG chain initializes the retriever object alongside ChatOpenAI(model='gpt-4o-mini', temperature=0.0).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10728655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7C3AED"/>
                </a:solidFill>
              </a:defRPr>
            </a:pPr>
            <a:r>
              <a:t>2. Schema Enforcement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Binds structural output validation using self.llm.with_structured_output(AgentResponse).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7C3AED"/>
                </a:solidFill>
              </a:defRPr>
            </a:pPr>
            <a:r>
              <a:t>3. Context Retrieval &amp; Prompt Ingestion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Queries retriever with input prompt, formats retrieved document chunks with RAG_PROMPT, and passes context to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74920"/>
            <a:ext cx="10728655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7C3AED"/>
                </a:solidFill>
              </a:defRPr>
            </a:pPr>
            <a:r>
              <a:t>4. Validated Generation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Parses model response into a typed AgentResponse schema containing answer payload and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PROJECT ARCHITECTURE &amp;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</a:defRPr>
            </a:pPr>
            <a:r>
              <a:t>Structured Output &amp; Reliability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528255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Design Element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Technical Purpose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12529"/>
                          </a:solidFill>
                        </a:defRPr>
                      </a:pPr>
                      <a:r>
                        <a:t>AgentResponse Schema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6C757D"/>
                          </a:solidFill>
                        </a:defRPr>
                      </a:pPr>
                      <a:r>
                        <a:t>Guarantees JSON formatted responses containing structured answer and citation fields.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12529"/>
                          </a:solidFill>
                        </a:defRPr>
                      </a:pPr>
                      <a:r>
                        <a:t>Temperature 0.0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6C757D"/>
                          </a:solidFill>
                        </a:defRPr>
                      </a:pPr>
                      <a:r>
                        <a:t>Ensures deterministic answers strictly grounded in context.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12529"/>
                          </a:solidFill>
                        </a:defRPr>
                      </a:pPr>
                      <a:r>
                        <a:t>Logging &amp; Diagnostics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6C757D"/>
                          </a:solidFill>
                        </a:defRPr>
                      </a:pPr>
                      <a:r>
                        <a:t>Integrated logger via src.utils.logging_setup for end-to-end execution tracking.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212529"/>
                          </a:solidFill>
                        </a:defRPr>
                      </a:pPr>
                      <a:r>
                        <a:t>LangChain Modular Imports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6C757D"/>
                          </a:solidFill>
                        </a:defRPr>
                      </a:pPr>
                      <a:r>
                        <a:t>Decouples prompts, models, retrievers, and schemas for high maintainability.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PROJECT ARCHITECTURE &amp;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</a:defRPr>
            </a:pPr>
            <a:r>
              <a:t>Technical Summary &amp; 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spcAft>
                <a:spcPts val="200"/>
              </a:spcAft>
              <a:defRPr sz="1600" b="1">
                <a:solidFill>
                  <a:srgbClr val="7C3AED"/>
                </a:solidFill>
              </a:defRPr>
            </a:pPr>
            <a:r>
              <a:t>• Strict Modular Architecture</a:t>
            </a:r>
          </a:p>
          <a:p>
            <a:pPr>
              <a:spcAft>
                <a:spcPts val="1400"/>
              </a:spcAft>
              <a:defRPr sz="1300">
                <a:solidFill>
                  <a:srgbClr val="6C757D"/>
                </a:solidFill>
              </a:defRPr>
            </a:pPr>
            <a:r>
              <a:t>Separates concerns across retrieval pipelines, schema definitions, prompt configurations, and utility loggers.</a:t>
            </a:r>
          </a:p>
          <a:p>
            <a:pPr>
              <a:spcAft>
                <a:spcPts val="200"/>
              </a:spcAft>
              <a:defRPr sz="1600" b="1">
                <a:solidFill>
                  <a:srgbClr val="7C3AED"/>
                </a:solidFill>
              </a:defRPr>
            </a:pPr>
            <a:r>
              <a:t>• Guaranteed Response Schema</a:t>
            </a:r>
          </a:p>
          <a:p>
            <a:pPr>
              <a:spcAft>
                <a:spcPts val="1400"/>
              </a:spcAft>
              <a:defRPr sz="1300">
                <a:solidFill>
                  <a:srgbClr val="6C757D"/>
                </a:solidFill>
              </a:defRPr>
            </a:pPr>
            <a:r>
              <a:t>Employs Pydantic structured output binding to eliminate raw parsing errors.</a:t>
            </a:r>
          </a:p>
          <a:p>
            <a:pPr>
              <a:spcAft>
                <a:spcPts val="200"/>
              </a:spcAft>
              <a:defRPr sz="1600" b="1">
                <a:solidFill>
                  <a:srgbClr val="7C3AED"/>
                </a:solidFill>
              </a:defRPr>
            </a:pPr>
            <a:r>
              <a:t>• Deterministic RAG Execution</a:t>
            </a:r>
          </a:p>
          <a:p>
            <a:pPr>
              <a:spcAft>
                <a:spcPts val="1400"/>
              </a:spcAft>
              <a:defRPr sz="1300">
                <a:solidFill>
                  <a:srgbClr val="6C757D"/>
                </a:solidFill>
              </a:defRPr>
            </a:pPr>
            <a:r>
              <a:t>Zero-temperature LLM settings ensure deterministic answers grounded strictly in retrieved context chunks.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