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4400" b="1">
                <a:solidFill>
                  <a:srgbClr val="FFFFFF"/>
                </a:solidFill>
              </a:defRPr>
            </a:pPr>
            <a:r>
              <a:t>🔮 Multimodal AI RAG Agent</a:t>
            </a:r>
          </a:p>
          <a:p>
            <a:pPr>
              <a:spcAft>
                <a:spcPts val="2800"/>
              </a:spcAft>
              <a:defRPr sz="2000">
                <a:solidFill>
                  <a:srgbClr val="CBD5E1"/>
                </a:solidFill>
              </a:defRPr>
            </a:pPr>
            <a:r>
              <a:t>Cross-Modal Retrieval, Vision-LLM Reasoning, &amp; Structured Output Chains</a:t>
            </a:r>
          </a:p>
          <a:p>
            <a:pPr>
              <a:defRPr sz="1400" b="1">
                <a:solidFill>
                  <a:srgbClr val="7C3AED"/>
                </a:solidFill>
              </a:defRPr>
            </a:pPr>
            <a:r>
              <a:t>Technical Overview &amp;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MULTIMODAL AI RAG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What is Multimodal RAG &amp; Core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212529"/>
                </a:solidFill>
              </a:defRPr>
            </a:pPr>
            <a:r>
              <a:t>The Challenge</a:t>
            </a:r>
          </a:p>
          <a:p>
            <a:pPr>
              <a:defRPr sz="1300">
                <a:solidFill>
                  <a:srgbClr val="6C757D"/>
                </a:solidFill>
              </a:defRPr>
            </a:pPr>
            <a:r>
              <a:t>Real-world documentation contains mixed media—text descriptions, technical diagrams, code snippets, and structural schemas—that traditional text-only RAG fails to parse.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212529"/>
                </a:solidFill>
              </a:defRPr>
            </a:pPr>
            <a:r>
              <a:t>The Solution</a:t>
            </a:r>
          </a:p>
          <a:p>
            <a:pPr>
              <a:defRPr sz="1300">
                <a:solidFill>
                  <a:srgbClr val="6C757D"/>
                </a:solidFill>
              </a:defRPr>
            </a:pPr>
            <a:r>
              <a:t>A Multimodal RAG Agent that unifies vector retrieval across diverse asset types, passing image and text embeddings into vision-capable LLMs.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212529"/>
                </a:solidFill>
              </a:defRPr>
            </a:pPr>
            <a:r>
              <a:t>The Purpose</a:t>
            </a:r>
          </a:p>
          <a:p>
            <a:pPr>
              <a:defRPr sz="1300">
                <a:solidFill>
                  <a:srgbClr val="6C757D"/>
                </a:solidFill>
              </a:defRPr>
            </a:pPr>
            <a:r>
              <a:t>Deliver accurate, contextually grounded answers based on combined visual and textual knowledge while strictly enforcing JSON schema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MULTIMODAL AI RAG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End-to-End Multimodal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1. Ingestion &amp; Embedding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Converts textual documents, code blocks, and images into unified vector embeddings using CLIP / Multimodal Embeddings.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2. Cross-Modal Retrieval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get_retriever() fetches relevant top-k text chunks and visual context objects matching the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3. Dynamic Context Composition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Formats visual elements alongside text prompts into the structured RAG_PROMPT template.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4. Multimodal Model Execution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Evaluates combined vision and text contexts using ChatOpenAI (gpt-4o-mini, temperature=0.0).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5. Structured Response Generation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Enforces AgentResponse schema via Pydantic to ensure reliable JSON parsing.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MULTIMODAL AI RAG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Codebase Architecture &amp; Component Layout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071055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 Path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Multimodal Purpose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src/retrieval/retriever.py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C757D"/>
                          </a:solidFill>
                        </a:defRPr>
                      </a:pPr>
                      <a:r>
                        <a:t>Manages vector search indexing for mixed media (text passages + visual elements).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src/chains/prompts.py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C757D"/>
                          </a:solidFill>
                        </a:defRPr>
                      </a:pPr>
                      <a:r>
                        <a:t>Defines RAG_PROMPT constructs capable of contextualizing multimodal payload inputs.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src/chains/schemas.py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C757D"/>
                          </a:solidFill>
                        </a:defRPr>
                      </a:pPr>
                      <a:r>
                        <a:t>Provides Pydantic schema AgentResponse for strictly typed response delivery.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src/utils/logging_setup.py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C757D"/>
                          </a:solidFill>
                        </a:defRPr>
                      </a:pPr>
                      <a:r>
                        <a:t>Tracks cross-modal retrieval efficiency, prompt assembly, and LLM output states.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MULTIMODAL AI RAG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Chain Initialization &amp; Multimodal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212529"/>
                </a:solidFill>
              </a:defRPr>
            </a:pPr>
            <a:r>
              <a:t>Retrieval Instantiation</a:t>
            </a:r>
          </a:p>
          <a:p>
            <a:pPr>
              <a:defRPr sz="1300">
                <a:solidFill>
                  <a:srgbClr val="6C757D"/>
                </a:solidFill>
              </a:defRPr>
            </a:pPr>
            <a:r>
              <a:t>get_retriever() initializes vector connection to search across multimodal chunk embeddings.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212529"/>
                </a:solidFill>
              </a:defRPr>
            </a:pPr>
            <a:r>
              <a:t>Vision-Capable Model</a:t>
            </a:r>
          </a:p>
          <a:p>
            <a:pPr>
              <a:defRPr sz="1300">
                <a:solidFill>
                  <a:srgbClr val="6C757D"/>
                </a:solidFill>
              </a:defRPr>
            </a:pPr>
            <a:r>
              <a:t>Instantiates ChatOpenAI(model='gpt-4o-mini', temperature=0.0) configured for multi-input vision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212529"/>
                </a:solidFill>
              </a:defRPr>
            </a:pPr>
            <a:r>
              <a:t>Structured Schema Binding</a:t>
            </a:r>
          </a:p>
          <a:p>
            <a:pPr>
              <a:defRPr sz="1300">
                <a:solidFill>
                  <a:srgbClr val="6C757D"/>
                </a:solidFill>
              </a:defRPr>
            </a:pPr>
            <a:r>
              <a:t>Uses with_structured_output(AgentResponse) to force deterministic, type-checked output schemas.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MULTIMODAL AI RAG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Vision Integration &amp; Output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Chain Initialization Logic</a:t>
            </a:r>
          </a:p>
          <a:p>
            <a:pPr>
              <a:defRPr sz="1300">
                <a:solidFill>
                  <a:srgbClr val="BBF7D0"/>
                </a:solidFill>
              </a:defRPr>
            </a:pPr>
            <a:r>
              <a:t>self.retriever = get_retriever()</a:t>
            </a:r>
            <a:br/>
            <a:r>
              <a:t>self.llm = ChatOpenAI(</a:t>
            </a:r>
            <a:br/>
            <a:r>
              <a:t>    model='gpt-4o-mini',</a:t>
            </a:r>
            <a:br/>
            <a:r>
              <a:t>    temperature=0.0</a:t>
            </a:r>
            <a:br/>
            <a:r>
              <a:t>)</a:t>
            </a:r>
            <a:br/>
            <a:r>
              <a:t>self.structured_llm = (</a:t>
            </a:r>
            <a:br/>
            <a:r>
              <a:t>    self.llm.with_structured_output(</a:t>
            </a:r>
            <a:br/>
            <a:r>
              <a:t>        AgentResponse</a:t>
            </a:r>
            <a:br/>
            <a:r>
              <a:t>    )</a:t>
            </a:r>
            <a:br/>
            <a: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212529"/>
                </a:solidFill>
              </a:defRPr>
            </a:pPr>
            <a:r>
              <a:t>Why Multimodal RAG Matters</a:t>
            </a:r>
          </a:p>
          <a:p>
            <a:pPr>
              <a:spcAft>
                <a:spcPts val="200"/>
              </a:spcAft>
              <a:defRPr sz="1400" b="1">
                <a:solidFill>
                  <a:srgbClr val="7C3AED"/>
                </a:solidFill>
              </a:defRPr>
            </a:pPr>
            <a:r>
              <a:t>• Visual Grounding</a:t>
            </a:r>
          </a:p>
          <a:p>
            <a:pPr>
              <a:spcAft>
                <a:spcPts val="1000"/>
              </a:spcAft>
              <a:defRPr sz="1200">
                <a:solidFill>
                  <a:srgbClr val="6C757D"/>
                </a:solidFill>
              </a:defRPr>
            </a:pPr>
            <a:r>
              <a:t>Enables direct inspection of technical charts, diagrams, and UI workflows.</a:t>
            </a:r>
          </a:p>
          <a:p>
            <a:pPr>
              <a:spcAft>
                <a:spcPts val="200"/>
              </a:spcAft>
              <a:defRPr sz="1400" b="1">
                <a:solidFill>
                  <a:srgbClr val="7C3AED"/>
                </a:solidFill>
              </a:defRPr>
            </a:pPr>
            <a:r>
              <a:t>• Strict Schema Delivery</a:t>
            </a:r>
          </a:p>
          <a:p>
            <a:pPr>
              <a:spcAft>
                <a:spcPts val="1000"/>
              </a:spcAft>
              <a:defRPr sz="1200">
                <a:solidFill>
                  <a:srgbClr val="6C757D"/>
                </a:solidFill>
              </a:defRPr>
            </a:pPr>
            <a:r>
              <a:t>Converts multi-source multimodal evidence into uniform JSON payloads.</a:t>
            </a:r>
          </a:p>
          <a:p>
            <a:pPr>
              <a:spcAft>
                <a:spcPts val="200"/>
              </a:spcAft>
              <a:defRPr sz="1400" b="1">
                <a:solidFill>
                  <a:srgbClr val="7C3AED"/>
                </a:solidFill>
              </a:defRPr>
            </a:pPr>
            <a:r>
              <a:t>• Deterministic Output</a:t>
            </a:r>
          </a:p>
          <a:p>
            <a:pPr>
              <a:spcAft>
                <a:spcPts val="1000"/>
              </a:spcAft>
              <a:defRPr sz="1200">
                <a:solidFill>
                  <a:srgbClr val="6C757D"/>
                </a:solidFill>
              </a:defRPr>
            </a:pPr>
            <a:r>
              <a:t>Zero-temperature settings guarantee consistent answers across complex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MULTIMODAL AI RAG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Cross-Modal Retrieval Mechanics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1. Query Analysis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Analyzes user query to generate embeddings compatible with multi-vector indices.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2. Cross-Modal Matching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Searches across text blocks, diagram descriptions, and image embedding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3. Visual Context Ingestion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Packs image payloads and text metadata directly into the system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4. Source Attribution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Grounds answers strictly in retrieved chunks to prevent hallucinated statements.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MULTIMODAL AI RAG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Multimodal Capabilities &amp; Advantages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528255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System Dimension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Multimodal RAG Advantage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Information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C757D"/>
                          </a:solidFill>
                        </a:defRPr>
                      </a:pPr>
                      <a:r>
                        <a:t>Processes text documents, code files, and architectural diagrams simultaneously.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Answer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C757D"/>
                          </a:solidFill>
                        </a:defRPr>
                      </a:pPr>
                      <a:r>
                        <a:t>Grounds answers in both visual proof and textual context to eliminate speculation.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API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C757D"/>
                          </a:solidFill>
                        </a:defRPr>
                      </a:pPr>
                      <a:r>
                        <a:t>Outputs validated AgentResponse objects ready for automated application backends.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Modular Extensibility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C757D"/>
                          </a:solidFill>
                        </a:defRPr>
                      </a:pPr>
                      <a:r>
                        <a:t>Decouples indexers, schemas, prompts, and loggers for easy future expansion.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MULTIMODAL AI RAG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Project Summary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• Unified Multimodal Intelligence</a:t>
            </a:r>
          </a:p>
          <a:p>
            <a:pPr>
              <a:spcAft>
                <a:spcPts val="1200"/>
              </a:spcAft>
              <a:defRPr sz="1300">
                <a:solidFill>
                  <a:srgbClr val="6C757D"/>
                </a:solidFill>
              </a:defRPr>
            </a:pPr>
            <a:r>
              <a:t>Extends traditional RAG to process mixed media (text, images, and visual diagrams) seamlessly.</a:t>
            </a:r>
          </a:p>
          <a:p>
            <a:pPr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• Strict Schema Enforcement</a:t>
            </a:r>
          </a:p>
          <a:p>
            <a:pPr>
              <a:spcAft>
                <a:spcPts val="1200"/>
              </a:spcAft>
              <a:defRPr sz="1300">
                <a:solidFill>
                  <a:srgbClr val="6C757D"/>
                </a:solidFill>
              </a:defRPr>
            </a:pPr>
            <a:r>
              <a:t>Uses Pydantic structured output binding to deliver deterministic, system-ready outputs.</a:t>
            </a:r>
          </a:p>
          <a:p>
            <a:pPr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• Production-Ready Design</a:t>
            </a:r>
          </a:p>
          <a:p>
            <a:pPr>
              <a:spcAft>
                <a:spcPts val="1200"/>
              </a:spcAft>
              <a:defRPr sz="1300">
                <a:solidFill>
                  <a:srgbClr val="6C757D"/>
                </a:solidFill>
              </a:defRPr>
            </a:pPr>
            <a:r>
              <a:t>Organized across modular subpackages (src.chains, src.retrieval, src.utils) for high maintainability.</a:t>
            </a:r>
          </a:p>
          <a:p>
            <a:pPr>
              <a:spcAft>
                <a:spcPts val="200"/>
              </a:spcAft>
              <a:defRPr sz="1500" b="1">
                <a:solidFill>
                  <a:srgbClr val="7C3AED"/>
                </a:solidFill>
              </a:defRPr>
            </a:pPr>
            <a:r>
              <a:t>• Grounded &amp; Verifiable</a:t>
            </a:r>
          </a:p>
          <a:p>
            <a:pPr>
              <a:spcAft>
                <a:spcPts val="1200"/>
              </a:spcAft>
              <a:defRPr sz="1300">
                <a:solidFill>
                  <a:srgbClr val="6C757D"/>
                </a:solidFill>
              </a:defRPr>
            </a:pPr>
            <a:r>
              <a:t>Prevents model hallucination by enforcing strict context retrieval prior to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